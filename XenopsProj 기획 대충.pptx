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2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7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90F5-A00A-F1B6-F735-1282B0A2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E4D94-231F-77B5-9B05-A15084579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DE0B1-D6B0-2940-FAE4-FED42458C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62F2D-DDDF-4B88-47BA-76BE8748A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5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80189" y="1705124"/>
            <a:ext cx="698362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Colony Management Game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80189" y="2459385"/>
            <a:ext cx="698362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 기획서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0189" y="3160365"/>
            <a:ext cx="69836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 기반 콜로니 관리 시뮬레이션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776287"/>
            <a:ext cx="8534400" cy="0"/>
          </a:xfrm>
          <a:prstGeom prst="line">
            <a:avLst/>
          </a:prstGeom>
          <a:noFill/>
          <a:ln w="2857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철학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942975"/>
            <a:ext cx="8534400" cy="108585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942975"/>
            <a:ext cx="0" cy="108585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5300" y="1095375"/>
            <a:ext cx="8355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작업 할당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5300" y="1400175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플레이어의 직접 통제</a:t>
            </a:r>
            <a:endParaRPr lang="en-US" sz="1125" dirty="0"/>
          </a:p>
          <a:p>
            <a:pPr marL="342900" indent="-3429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전략적 의사결정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4800" y="2143125"/>
            <a:ext cx="8534400" cy="1085850"/>
          </a:xfrm>
          <a:prstGeom prst="roundRect">
            <a:avLst>
              <a:gd name="adj" fmla="val 35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" y="2143125"/>
            <a:ext cx="0" cy="108585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5300" y="2295525"/>
            <a:ext cx="8355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물리적 이동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300" y="2600325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실제 이동 경로</a:t>
            </a:r>
            <a:endParaRPr lang="en-US" sz="1125" dirty="0"/>
          </a:p>
          <a:p>
            <a:pPr marL="342900" indent="-342900" algn="l">
              <a:lnSpc>
                <a:spcPts val="1575"/>
              </a:lnSpc>
              <a:spcAft>
                <a:spcPts val="3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작업 파일 할당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04800" y="3343275"/>
            <a:ext cx="8534400" cy="809625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3850" y="3343275"/>
            <a:ext cx="0" cy="809625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5300" y="3495675"/>
            <a:ext cx="8355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 기반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5300" y="3800475"/>
            <a:ext cx="8191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75"/>
              </a:lnSpc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전략적 위치 선택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F5D7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8100" y="0"/>
            <a:ext cx="0" cy="5143500"/>
          </a:xfrm>
          <a:prstGeom prst="line">
            <a:avLst/>
          </a:prstGeom>
          <a:noFill/>
          <a:ln w="762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03550" y="304800"/>
            <a:ext cx="246136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시스템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733871"/>
            <a:ext cx="8534400" cy="0"/>
          </a:xfrm>
          <a:prstGeom prst="line">
            <a:avLst/>
          </a:prstGeom>
          <a:noFill/>
          <a:ln w="2857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04800" y="30480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모드 &amp; 할당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900559"/>
            <a:ext cx="4171950" cy="2057400"/>
          </a:xfrm>
          <a:prstGeom prst="roundRect">
            <a:avLst>
              <a:gd name="adj" fmla="val 185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900559"/>
            <a:ext cx="0" cy="20574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3400" y="1091059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모드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1433959"/>
            <a:ext cx="3752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</a:t>
            </a:r>
            <a:r>
              <a:rPr lang="ko-KR" alt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</a:t>
            </a: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자원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선택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건설: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건물 배치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수확: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식물 수확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일반: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더미에 직원 할당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철거</a:t>
            </a:r>
            <a:r>
              <a:rPr lang="en-US" altLang="ko-KR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부술 타일 혹은 건물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endParaRPr lang="en-US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SzPct val="100000"/>
            </a:pP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67250" y="900559"/>
            <a:ext cx="4171950" cy="2400300"/>
          </a:xfrm>
          <a:prstGeom prst="roundRect">
            <a:avLst>
              <a:gd name="adj" fmla="val 158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86300" y="900559"/>
            <a:ext cx="0" cy="24003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95850" y="1091059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할당 프로세스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5850" y="1433959"/>
            <a:ext cx="375285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제작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모드 진입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채광의 경우 타일 더미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수확의 경우 관리할 식물 더미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더미 생성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더미 클릭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작업에 직원 할당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04800" y="3415159"/>
            <a:ext cx="8534400" cy="126973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529459"/>
            <a:ext cx="8471916" cy="522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31009E-1998-2FDF-9D81-AE597880EF04}"/>
              </a:ext>
            </a:extLst>
          </p:cNvPr>
          <p:cNvSpPr txBox="1"/>
          <p:nvPr/>
        </p:nvSpPr>
        <p:spPr>
          <a:xfrm>
            <a:off x="419099" y="3529459"/>
            <a:ext cx="8304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식물의 경우 지속적으로 성장하기 때문에 한번 더미에 할당한 직원은 반 영구적으로 작업 진행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채광의 경우 자연 타일을 채광하면 사라지기 때문에 일회성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작업 가능한 건물의 작업은 유지할 </a:t>
            </a:r>
            <a:r>
              <a:rPr lang="ko-KR" altLang="en-US" sz="1400" dirty="0" err="1">
                <a:solidFill>
                  <a:schemeClr val="bg1"/>
                </a:solidFill>
              </a:rPr>
              <a:t>자원량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작업 횟수 등 상세 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F5D7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8100" y="0"/>
            <a:ext cx="0" cy="5143500"/>
          </a:xfrm>
          <a:prstGeom prst="line">
            <a:avLst/>
          </a:prstGeom>
          <a:noFill/>
          <a:ln w="762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403550" y="304800"/>
            <a:ext cx="246136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 시스템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733871"/>
            <a:ext cx="8534400" cy="0"/>
          </a:xfrm>
          <a:prstGeom prst="line">
            <a:avLst/>
          </a:prstGeom>
          <a:noFill/>
          <a:ln w="2857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04800" y="30480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 등급 &amp; 고용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900559"/>
            <a:ext cx="4171950" cy="1729680"/>
          </a:xfrm>
          <a:prstGeom prst="roundRect">
            <a:avLst>
              <a:gd name="adj" fmla="val 2203"/>
            </a:avLst>
          </a:prstGeom>
          <a:solidFill>
            <a:srgbClr val="F5F5F5"/>
          </a:solidFill>
          <a:ln w="19050">
            <a:solidFill>
              <a:srgbClr val="4F5D7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110109"/>
            <a:ext cx="38279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직원 (85%)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4350" y="1376394"/>
            <a:ext cx="3752850" cy="1195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스탯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불가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</a:t>
            </a:r>
            <a:endParaRPr lang="en-US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소모품의 느낌을 지니도록 설계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67250" y="900559"/>
            <a:ext cx="4171950" cy="1729680"/>
          </a:xfrm>
          <a:prstGeom prst="roundRect">
            <a:avLst>
              <a:gd name="adj" fmla="val 2203"/>
            </a:avLst>
          </a:prstGeom>
          <a:solidFill>
            <a:srgbClr val="F5F5F5"/>
          </a:solidFill>
          <a:ln w="19050">
            <a:solidFill>
              <a:srgbClr val="EF83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110109"/>
            <a:ext cx="382790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직원 (15%)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6800" y="1430089"/>
            <a:ext cx="3752850" cy="114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 스토리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가능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b="1" dirty="0" err="1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</a:t>
            </a: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b="1" dirty="0" err="1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착용</a:t>
            </a:r>
            <a:r>
              <a:rPr 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25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</a:t>
            </a:r>
            <a:endParaRPr lang="en-US" altLang="ko-KR" sz="1125" b="1" dirty="0">
              <a:solidFill>
                <a:srgbClr val="EF83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b="1" dirty="0">
                <a:solidFill>
                  <a:srgbClr val="EF8354"/>
                </a:solidFill>
                <a:latin typeface="Arial" pitchFamily="34" charset="0"/>
                <a:cs typeface="Arial" pitchFamily="34" charset="-120"/>
              </a:rPr>
              <a:t>플레이어가 </a:t>
            </a:r>
            <a:r>
              <a:rPr lang="en-US" altLang="ko-KR" sz="1125" b="1" dirty="0">
                <a:solidFill>
                  <a:srgbClr val="EF8354"/>
                </a:solidFill>
                <a:latin typeface="Arial" pitchFamily="34" charset="0"/>
                <a:cs typeface="Arial" pitchFamily="34" charset="-120"/>
              </a:rPr>
              <a:t>‘</a:t>
            </a:r>
            <a:r>
              <a:rPr lang="ko-KR" altLang="en-US" sz="1125" b="1" dirty="0">
                <a:solidFill>
                  <a:srgbClr val="EF8354"/>
                </a:solidFill>
                <a:latin typeface="Arial" pitchFamily="34" charset="0"/>
                <a:cs typeface="Arial" pitchFamily="34" charset="-120"/>
              </a:rPr>
              <a:t>애착</a:t>
            </a:r>
            <a:r>
              <a:rPr lang="en-US" altLang="ko-KR" sz="1125" b="1" dirty="0">
                <a:solidFill>
                  <a:srgbClr val="EF8354"/>
                </a:solidFill>
                <a:latin typeface="Arial" pitchFamily="34" charset="0"/>
                <a:cs typeface="Arial" pitchFamily="34" charset="-120"/>
              </a:rPr>
              <a:t>＇</a:t>
            </a:r>
            <a:r>
              <a:rPr lang="ko-KR" altLang="en-US" sz="1125" b="1" dirty="0">
                <a:solidFill>
                  <a:srgbClr val="EF8354"/>
                </a:solidFill>
                <a:latin typeface="Arial" pitchFamily="34" charset="0"/>
                <a:cs typeface="Arial" pitchFamily="34" charset="-120"/>
              </a:rPr>
              <a:t>을 가지도록 설계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4800" y="2744538"/>
            <a:ext cx="8534400" cy="2177417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744539"/>
            <a:ext cx="0" cy="7239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3400" y="2935039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고용: 3명 중 1명 </a:t>
            </a:r>
            <a:r>
              <a:rPr lang="en-US" sz="1500" b="1" dirty="0" err="1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등장하는 셋은 </a:t>
            </a:r>
            <a:r>
              <a:rPr lang="ko-KR" altLang="en-US" sz="1500" b="1" dirty="0" err="1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상단부</a:t>
            </a: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확률에 따라 진행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9100" y="3697039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Systems/EmployeeSystems/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9100" y="3963739"/>
            <a:ext cx="8471916" cy="266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Growth/ Equipment/ Hiring/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F5D7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8100" y="0"/>
            <a:ext cx="0" cy="5143500"/>
          </a:xfrm>
          <a:prstGeom prst="line">
            <a:avLst/>
          </a:prstGeom>
          <a:noFill/>
          <a:ln w="762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273201" y="304800"/>
            <a:ext cx="4767274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제놉스 시스템 (Xenos)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733871"/>
            <a:ext cx="8534400" cy="0"/>
          </a:xfrm>
          <a:prstGeom prst="line">
            <a:avLst/>
          </a:prstGeom>
          <a:noFill/>
          <a:ln w="2857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04800" y="30480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제놉스 4가지 타입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862459"/>
            <a:ext cx="4219575" cy="1609576"/>
          </a:xfrm>
          <a:prstGeom prst="roundRect">
            <a:avLst>
              <a:gd name="adj" fmla="val 2367"/>
            </a:avLst>
          </a:prstGeom>
          <a:solidFill>
            <a:srgbClr val="F5F5F5"/>
          </a:solidFill>
          <a:ln w="19050">
            <a:solidFill>
              <a:srgbClr val="4F5D7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072009"/>
            <a:ext cx="387648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4350" y="1391989"/>
            <a:ext cx="38004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광역 범위나 맵 전체에 영향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긍정적 효과 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부정적 효과를 비슷한 수치로 제공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14350" y="2115889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</a:t>
            </a:r>
            <a:r>
              <a:rPr lang="en-US" sz="825" dirty="0" err="1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</a:t>
            </a: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</a:t>
            </a: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+10% / </a:t>
            </a:r>
            <a:r>
              <a:rPr lang="en-US" sz="825" dirty="0" err="1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피로</a:t>
            </a: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속도</a:t>
            </a: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+10%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19625" y="862459"/>
            <a:ext cx="4219575" cy="1609576"/>
          </a:xfrm>
          <a:prstGeom prst="roundRect">
            <a:avLst>
              <a:gd name="adj" fmla="val 2367"/>
            </a:avLst>
          </a:prstGeom>
          <a:solidFill>
            <a:srgbClr val="F5F5F5"/>
          </a:solidFill>
          <a:ln w="19050">
            <a:solidFill>
              <a:srgbClr val="4F5D7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9175" y="1072009"/>
            <a:ext cx="387648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개체형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29174" y="1305679"/>
            <a:ext cx="3800475" cy="85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생명체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cs typeface="Arial" pitchFamily="34" charset="-120"/>
              </a:rPr>
              <a:t>일정 주기마다 자원 생산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cs typeface="Arial" pitchFamily="34" charset="-120"/>
              </a:rPr>
              <a:t>주변에 피해를 줄 수 있음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/>
              <a:t>1</a:t>
            </a:r>
            <a:r>
              <a:rPr lang="ko-KR" altLang="en-US" sz="1125" dirty="0"/>
              <a:t>회 제압 할 시</a:t>
            </a:r>
            <a:r>
              <a:rPr lang="en-US" altLang="ko-KR" sz="1125" dirty="0"/>
              <a:t>, </a:t>
            </a:r>
            <a:r>
              <a:rPr lang="ko-KR" altLang="en-US" sz="1125" dirty="0"/>
              <a:t>특정 건물에 구속 가능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29175" y="2238425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크리스탈 생성 / 데미지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4800" y="2567285"/>
            <a:ext cx="4219575" cy="1609576"/>
          </a:xfrm>
          <a:prstGeom prst="roundRect">
            <a:avLst>
              <a:gd name="adj" fmla="val 2367"/>
            </a:avLst>
          </a:prstGeom>
          <a:solidFill>
            <a:srgbClr val="F5F5F5"/>
          </a:solidFill>
          <a:ln w="19050">
            <a:solidFill>
              <a:srgbClr val="4F5D7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2776835"/>
            <a:ext cx="387648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4350" y="3048223"/>
            <a:ext cx="38004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도구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대폭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증가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부정적 효과도 제공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14350" y="3820716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채광 +100% / </a:t>
            </a:r>
            <a:r>
              <a:rPr lang="ko-KR" alt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피로 누적 속도 </a:t>
            </a:r>
            <a:r>
              <a:rPr lang="en-US" altLang="ko-KR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19625" y="2567285"/>
            <a:ext cx="4219575" cy="1609576"/>
          </a:xfrm>
          <a:prstGeom prst="roundRect">
            <a:avLst>
              <a:gd name="adj" fmla="val 2367"/>
            </a:avLst>
          </a:prstGeom>
          <a:solidFill>
            <a:srgbClr val="F5F5F5"/>
          </a:solidFill>
          <a:ln w="19050">
            <a:solidFill>
              <a:srgbClr val="4F5D7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9175" y="2776835"/>
            <a:ext cx="387648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29175" y="3025868"/>
            <a:ext cx="38004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장비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강력한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전투력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디메리트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829175" y="3820716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</a:t>
            </a:r>
            <a:r>
              <a:rPr lang="en-US" sz="825" dirty="0" err="1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광역</a:t>
            </a: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데미지를 입힘</a:t>
            </a:r>
            <a:r>
              <a:rPr 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ko-KR" altLang="en-US" sz="825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착용 중인 직원이 쓰러질 경우 주변 광역 데미지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04800" y="733871"/>
            <a:ext cx="8534400" cy="0"/>
          </a:xfrm>
          <a:prstGeom prst="line">
            <a:avLst/>
          </a:prstGeom>
          <a:noFill/>
          <a:ln w="2857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04800" y="30480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en-US" sz="24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시스템 개요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862459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862459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3400" y="1052959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맵 &amp; 자원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1395859"/>
            <a:ext cx="3752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Tilemap 월드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전역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인벤토리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1272" y="3595241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322" y="3595241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1161" y="3785741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9872" y="4128641"/>
            <a:ext cx="3752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직원으로 확률적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성능적 </a:t>
            </a:r>
            <a:r>
              <a:rPr lang="ko-KR" alt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차별점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직원의 성장 시스템으로 게임의 목표 추가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67250" y="862459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6300" y="862459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95850" y="1052959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 err="1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03611" y="1319659"/>
            <a:ext cx="3752850" cy="903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</a:t>
            </a: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수확</a:t>
            </a:r>
            <a:endParaRPr lang="en-US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cs typeface="Arial" pitchFamily="34" charset="-120"/>
              </a:rPr>
              <a:t>식물당 성장 시간에 따라서 자동적으로 성장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cs typeface="Arial" pitchFamily="34" charset="-120"/>
              </a:rPr>
              <a:t>반 영구적 작업 설정으로 성장에 따라서 자동 수확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663722" y="3595241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2772" y="3595241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03611" y="3785741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찾기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322" y="4128641"/>
            <a:ext cx="3752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알고리즘</a:t>
            </a:r>
            <a:endParaRPr lang="en-US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제한을 두어 무한 연산 방지</a:t>
            </a:r>
            <a:endParaRPr lang="en-US" sz="1125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2DF7C70D-06C4-5C16-C039-2FCEC8657B72}"/>
              </a:ext>
            </a:extLst>
          </p:cNvPr>
          <p:cNvSpPr/>
          <p:nvPr/>
        </p:nvSpPr>
        <p:spPr>
          <a:xfrm>
            <a:off x="312561" y="2223641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F4CFEFD3-A1D2-BD9E-E656-FF5B18574FB7}"/>
              </a:ext>
            </a:extLst>
          </p:cNvPr>
          <p:cNvSpPr/>
          <p:nvPr/>
        </p:nvSpPr>
        <p:spPr>
          <a:xfrm>
            <a:off x="331611" y="2223641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4962C48C-92C0-FC04-DB0F-A9B9444F190A}"/>
              </a:ext>
            </a:extLst>
          </p:cNvPr>
          <p:cNvSpPr/>
          <p:nvPr/>
        </p:nvSpPr>
        <p:spPr>
          <a:xfrm>
            <a:off x="541161" y="2414141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</a:t>
            </a:r>
            <a:endParaRPr lang="en-US" sz="15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94FCB7E-B52A-7A75-8E4E-8793763FB3FB}"/>
              </a:ext>
            </a:extLst>
          </p:cNvPr>
          <p:cNvSpPr/>
          <p:nvPr/>
        </p:nvSpPr>
        <p:spPr>
          <a:xfrm>
            <a:off x="541161" y="2757041"/>
            <a:ext cx="3752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자원 확인 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청사진 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건설할 직원 할당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109BDCA0-A1D4-8DE3-DA4E-8169729D256C}"/>
              </a:ext>
            </a:extLst>
          </p:cNvPr>
          <p:cNvSpPr/>
          <p:nvPr/>
        </p:nvSpPr>
        <p:spPr>
          <a:xfrm>
            <a:off x="4675011" y="2223641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52B16541-FC88-8F56-6285-C7CC4557C95A}"/>
              </a:ext>
            </a:extLst>
          </p:cNvPr>
          <p:cNvSpPr/>
          <p:nvPr/>
        </p:nvSpPr>
        <p:spPr>
          <a:xfrm>
            <a:off x="4694061" y="2223641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81615F91-AA7D-5AD7-2928-737BE7DB393C}"/>
              </a:ext>
            </a:extLst>
          </p:cNvPr>
          <p:cNvSpPr/>
          <p:nvPr/>
        </p:nvSpPr>
        <p:spPr>
          <a:xfrm>
            <a:off x="4903611" y="2414141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</a:t>
            </a:r>
            <a:endParaRPr lang="en-US" sz="15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89DE3FE-B22A-D98A-EEF5-F7068AC83283}"/>
              </a:ext>
            </a:extLst>
          </p:cNvPr>
          <p:cNvSpPr/>
          <p:nvPr/>
        </p:nvSpPr>
        <p:spPr>
          <a:xfrm>
            <a:off x="4903611" y="2757040"/>
            <a:ext cx="3752850" cy="776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채광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수확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철거 등의 작업 존재</a:t>
            </a:r>
            <a:endParaRPr lang="en-US" altLang="ko-KR" sz="1125" dirty="0">
              <a:solidFill>
                <a:srgbClr val="1A1B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작업은 어떤 </a:t>
            </a:r>
            <a:r>
              <a:rPr lang="ko-KR" altLang="en-US" sz="1125" dirty="0" err="1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형태든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더미</a:t>
            </a:r>
            <a:r>
              <a:rPr lang="en-US" altLang="ko-KR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＇</a:t>
            </a:r>
            <a:r>
              <a:rPr lang="ko-KR" altLang="en-US" sz="1125" dirty="0">
                <a:solidFill>
                  <a:srgbClr val="1A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직원을 할당하는 형식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CC73F-D824-0A0B-F317-A8E832A5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058DA8E-4398-874F-1202-4541435F8E04}"/>
              </a:ext>
            </a:extLst>
          </p:cNvPr>
          <p:cNvSpPr/>
          <p:nvPr/>
        </p:nvSpPr>
        <p:spPr>
          <a:xfrm>
            <a:off x="304800" y="733871"/>
            <a:ext cx="8534400" cy="0"/>
          </a:xfrm>
          <a:prstGeom prst="line">
            <a:avLst/>
          </a:prstGeom>
          <a:noFill/>
          <a:ln w="28575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D8B58F-E272-B1D4-2382-312AD42CD1FB}"/>
              </a:ext>
            </a:extLst>
          </p:cNvPr>
          <p:cNvSpPr/>
          <p:nvPr/>
        </p:nvSpPr>
        <p:spPr>
          <a:xfrm>
            <a:off x="304800" y="304800"/>
            <a:ext cx="436226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67"/>
              </a:lnSpc>
              <a:buNone/>
            </a:pPr>
            <a:r>
              <a:rPr lang="ko-KR" altLang="en-US" sz="24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0B510D-92DB-2E50-A038-5949C592EF1E}"/>
              </a:ext>
            </a:extLst>
          </p:cNvPr>
          <p:cNvSpPr/>
          <p:nvPr/>
        </p:nvSpPr>
        <p:spPr>
          <a:xfrm>
            <a:off x="304800" y="862459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4E4C7A-BA91-DDAB-C4BC-37FD9270EB14}"/>
              </a:ext>
            </a:extLst>
          </p:cNvPr>
          <p:cNvSpPr/>
          <p:nvPr/>
        </p:nvSpPr>
        <p:spPr>
          <a:xfrm>
            <a:off x="323850" y="862459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618DEF-A2C0-8951-A572-F2569196F5C4}"/>
              </a:ext>
            </a:extLst>
          </p:cNvPr>
          <p:cNvSpPr/>
          <p:nvPr/>
        </p:nvSpPr>
        <p:spPr>
          <a:xfrm>
            <a:off x="533400" y="1052959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cs typeface="Arial" pitchFamily="34" charset="-120"/>
              </a:rPr>
              <a:t>외부 침략 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2290A2D-8ED3-974F-F66E-02D789D672CB}"/>
              </a:ext>
            </a:extLst>
          </p:cNvPr>
          <p:cNvSpPr/>
          <p:nvPr/>
        </p:nvSpPr>
        <p:spPr>
          <a:xfrm>
            <a:off x="533400" y="1395859"/>
            <a:ext cx="3752850" cy="827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이웃 </a:t>
            </a:r>
            <a:r>
              <a:rPr lang="ko-KR" altLang="en-US" sz="1125" dirty="0" err="1"/>
              <a:t>세력들에서</a:t>
            </a:r>
            <a:r>
              <a:rPr lang="ko-KR" altLang="en-US" sz="1125" dirty="0"/>
              <a:t> 침략이 들어옴</a:t>
            </a:r>
            <a:endParaRPr lang="en-US" altLang="ko-KR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직원</a:t>
            </a:r>
            <a:r>
              <a:rPr lang="en-US" altLang="ko-KR" sz="1125" dirty="0"/>
              <a:t>, </a:t>
            </a:r>
            <a:r>
              <a:rPr lang="ko-KR" altLang="en-US" sz="1125" dirty="0"/>
              <a:t>방어 건물 등을 사용해 막아야 하며 시간이 지날수록 침략이 강력해짐</a:t>
            </a:r>
            <a:endParaRPr lang="en-US" sz="1125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46C4ED1-81AE-CF09-61A4-EFF2DAAC2C16}"/>
              </a:ext>
            </a:extLst>
          </p:cNvPr>
          <p:cNvSpPr/>
          <p:nvPr/>
        </p:nvSpPr>
        <p:spPr>
          <a:xfrm>
            <a:off x="4667250" y="862459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256AC2-B27D-3E25-106E-965619F4F80E}"/>
              </a:ext>
            </a:extLst>
          </p:cNvPr>
          <p:cNvSpPr/>
          <p:nvPr/>
        </p:nvSpPr>
        <p:spPr>
          <a:xfrm>
            <a:off x="4686300" y="862459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0C84626-B102-2494-ECBD-E29EFAF6C4EB}"/>
              </a:ext>
            </a:extLst>
          </p:cNvPr>
          <p:cNvSpPr/>
          <p:nvPr/>
        </p:nvSpPr>
        <p:spPr>
          <a:xfrm>
            <a:off x="4895850" y="1052959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 육성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3F845A-2060-348B-36FE-A36B54272D37}"/>
              </a:ext>
            </a:extLst>
          </p:cNvPr>
          <p:cNvSpPr/>
          <p:nvPr/>
        </p:nvSpPr>
        <p:spPr>
          <a:xfrm>
            <a:off x="4903611" y="1319659"/>
            <a:ext cx="3752850" cy="903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특수 직원의 성장 </a:t>
            </a:r>
            <a:r>
              <a:rPr lang="en-US" altLang="ko-KR" sz="1125" dirty="0"/>
              <a:t>(</a:t>
            </a:r>
            <a:r>
              <a:rPr lang="ko-KR" altLang="en-US" sz="1125" dirty="0" err="1"/>
              <a:t>스탯</a:t>
            </a:r>
            <a:r>
              <a:rPr lang="en-US" altLang="ko-KR" sz="1125" dirty="0"/>
              <a:t>, </a:t>
            </a:r>
            <a:r>
              <a:rPr lang="ko-KR" altLang="en-US" sz="1125" dirty="0"/>
              <a:t>장비 등</a:t>
            </a:r>
            <a:r>
              <a:rPr lang="en-US" altLang="ko-KR" sz="1125" dirty="0"/>
              <a:t>)</a:t>
            </a:r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한 분야의 최고점을 보여주는 직원 만들기 등 여러 목표 제공 </a:t>
            </a:r>
            <a:r>
              <a:rPr lang="en-US" altLang="ko-KR" sz="1125" dirty="0"/>
              <a:t>(</a:t>
            </a:r>
            <a:r>
              <a:rPr lang="ko-KR" altLang="en-US" sz="1125" dirty="0"/>
              <a:t>채광 작업용 직원</a:t>
            </a:r>
            <a:r>
              <a:rPr lang="en-US" altLang="ko-KR" sz="1125" dirty="0"/>
              <a:t>, </a:t>
            </a:r>
            <a:r>
              <a:rPr lang="ko-KR" altLang="en-US" sz="1125" dirty="0"/>
              <a:t>전투용 직원 등</a:t>
            </a:r>
            <a:r>
              <a:rPr lang="en-US" altLang="ko-KR" sz="1125" dirty="0"/>
              <a:t>)</a:t>
            </a:r>
            <a:endParaRPr lang="en-US" sz="1125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6E9977B6-2C99-372C-37B1-35EA7E015836}"/>
              </a:ext>
            </a:extLst>
          </p:cNvPr>
          <p:cNvSpPr/>
          <p:nvPr/>
        </p:nvSpPr>
        <p:spPr>
          <a:xfrm>
            <a:off x="304800" y="2299240"/>
            <a:ext cx="4171950" cy="137160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895D2F5-5FCC-E88E-92A0-22C9860C164B}"/>
              </a:ext>
            </a:extLst>
          </p:cNvPr>
          <p:cNvSpPr/>
          <p:nvPr/>
        </p:nvSpPr>
        <p:spPr>
          <a:xfrm>
            <a:off x="323850" y="2299240"/>
            <a:ext cx="0" cy="1371600"/>
          </a:xfrm>
          <a:prstGeom prst="line">
            <a:avLst/>
          </a:prstGeom>
          <a:noFill/>
          <a:ln w="38100">
            <a:solidFill>
              <a:srgbClr val="4F5D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72D7CC9-0AB5-42FB-20CD-9258AC6B7EE5}"/>
              </a:ext>
            </a:extLst>
          </p:cNvPr>
          <p:cNvSpPr/>
          <p:nvPr/>
        </p:nvSpPr>
        <p:spPr>
          <a:xfrm>
            <a:off x="533400" y="2489740"/>
            <a:ext cx="382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ko-KR" altLang="en-US" sz="1500" b="1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</a:t>
            </a:r>
            <a:endParaRPr lang="en-US" sz="15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39C63B99-BA65-8C23-B2AE-E0B9B103FB50}"/>
              </a:ext>
            </a:extLst>
          </p:cNvPr>
          <p:cNvSpPr/>
          <p:nvPr/>
        </p:nvSpPr>
        <p:spPr>
          <a:xfrm>
            <a:off x="533400" y="2832640"/>
            <a:ext cx="3752850" cy="827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시간이 지날수록 점점 올라가는 난이도에 맞춰 어떤 </a:t>
            </a:r>
            <a:r>
              <a:rPr lang="ko-KR" altLang="en-US" sz="1125" dirty="0" err="1"/>
              <a:t>방식으로든</a:t>
            </a:r>
            <a:r>
              <a:rPr lang="ko-KR" altLang="en-US" sz="1125" dirty="0"/>
              <a:t> 성장해야 함</a:t>
            </a:r>
            <a:endParaRPr lang="en-US" altLang="ko-KR" sz="1125" dirty="0"/>
          </a:p>
          <a:p>
            <a:pPr marL="342900" indent="-342900" algn="l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25" dirty="0"/>
              <a:t>고급 기술 연구</a:t>
            </a:r>
            <a:r>
              <a:rPr lang="en-US" altLang="ko-KR" sz="1125" dirty="0"/>
              <a:t>, </a:t>
            </a:r>
            <a:r>
              <a:rPr lang="ko-KR" altLang="en-US" sz="1125" dirty="0" err="1"/>
              <a:t>제놉스</a:t>
            </a:r>
            <a:r>
              <a:rPr lang="ko-KR" altLang="en-US" sz="1125" dirty="0"/>
              <a:t> 활용</a:t>
            </a:r>
            <a:r>
              <a:rPr lang="en-US" altLang="ko-KR" sz="1125" dirty="0"/>
              <a:t>, </a:t>
            </a:r>
            <a:r>
              <a:rPr lang="ko-KR" altLang="en-US" sz="1125" dirty="0"/>
              <a:t>방어 시스템 활용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152814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636B8970EA52B48BDAC79061E423E74" ma:contentTypeVersion="4" ma:contentTypeDescription="새 문서를 만듭니다." ma:contentTypeScope="" ma:versionID="9867e6a2e2c9885d5e48b070e48ca206">
  <xsd:schema xmlns:xsd="http://www.w3.org/2001/XMLSchema" xmlns:xs="http://www.w3.org/2001/XMLSchema" xmlns:p="http://schemas.microsoft.com/office/2006/metadata/properties" xmlns:ns3="e58d3c7d-eed9-4a09-963e-ee4814397070" targetNamespace="http://schemas.microsoft.com/office/2006/metadata/properties" ma:root="true" ma:fieldsID="734c6e4ec6183c72ea3f14be28b4eb4e" ns3:_="">
    <xsd:import namespace="e58d3c7d-eed9-4a09-963e-ee48143970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8d3c7d-eed9-4a09-963e-ee4814397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E523D9-E329-417B-A861-FA8A147836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6FD624-4F8D-4BD2-886E-919DF17C0B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8d3c7d-eed9-4a09-963e-ee4814397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3EC90C-335B-4CC8-AC2E-21B2242B35A5}">
  <ds:schemaRefs>
    <ds:schemaRef ds:uri="http://schemas.microsoft.com/office/infopath/2007/PartnerControls"/>
    <ds:schemaRef ds:uri="e58d3c7d-eed9-4a09-963e-ee4814397070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495</Words>
  <Application>Microsoft Office PowerPoint</Application>
  <PresentationFormat>화면 슬라이드 쇼(16:9)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Colony Management Game - System Structure</dc:title>
  <dc:subject>PptxGenJS Presentation</dc:subject>
  <dc:creator>Colony Game Dev Team</dc:creator>
  <cp:lastModifiedBy>박민호</cp:lastModifiedBy>
  <cp:revision>2</cp:revision>
  <dcterms:created xsi:type="dcterms:W3CDTF">2025-12-22T13:26:32Z</dcterms:created>
  <dcterms:modified xsi:type="dcterms:W3CDTF">2025-12-23T11:22:48Z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0x010100F636B8970EA52B48BDAC79061E423E74</vt:lpwstr>
  </property>
</Properties>
</file>